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60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Solara Renewables — Organization Chart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11460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hierarchy as of September 2026  |  Human Resources &amp; Admin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07128" y="96012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F4E78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952848" y="1005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Rajeev Menon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 &amp; CEO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8552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4272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55368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01088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Vikram Desai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Manufacturing &amp;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12184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57904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Sanjana Kulkarni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&amp; Head of R&amp;D (CTO)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9000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4720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Nair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Sales &amp; Marketing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25816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71536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 Rao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People &amp; Culture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82632" y="2331720"/>
            <a:ext cx="1810512" cy="658368"/>
          </a:xfrm>
          <a:prstGeom prst="roundRect">
            <a:avLst>
              <a:gd name="adj" fmla="val 8333"/>
            </a:avLst>
          </a:prstGeom>
          <a:solidFill>
            <a:srgbClr val="2E6DA4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128352" y="23774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Farhan Sheikh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Information Technology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5848" y="1527048"/>
            <a:ext cx="0" cy="25603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3808" y="1783080"/>
            <a:ext cx="97840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3808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0624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17440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74256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31072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87888" y="1783080"/>
            <a:ext cx="0" cy="54864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3224" y="41605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6B8FB3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148944" y="4206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Meenal Kanetkar</a:t>
            </a:r>
            <a:endParaRPr lang="en-US" sz="95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Quality Assurance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52064" y="41605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6B8FB3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297784" y="4206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Suresh Pillai</a:t>
            </a:r>
            <a:endParaRPr lang="en-US" sz="95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Supply Chain &amp; Procurement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60624" y="2990088"/>
            <a:ext cx="0" cy="53035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86204" y="3520440"/>
            <a:ext cx="21488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6204" y="3520440"/>
            <a:ext cx="0" cy="64008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35044" y="3520440"/>
            <a:ext cx="0" cy="64008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73672" y="41605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6B8FB3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019392" y="4206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Karthik Subramaniam</a:t>
            </a:r>
            <a:endParaRPr lang="en-US" sz="95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 Manager, HR (ER &amp; Compliance)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22512" y="416052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6B8FB3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168232" y="4206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Devika Shah</a:t>
            </a:r>
            <a:endParaRPr lang="en-US" sz="95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Manager, Talent Acquisition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31072" y="2990088"/>
            <a:ext cx="0" cy="53035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6652" y="3520440"/>
            <a:ext cx="21488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6652" y="3520440"/>
            <a:ext cx="0" cy="64008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05492" y="3520440"/>
            <a:ext cx="0" cy="64008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59672" y="5532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A9C1DA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305392" y="5577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Pooja Verma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Executive, Talent Acquisition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105492" y="4727448"/>
            <a:ext cx="0" cy="21031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05492" y="4937760"/>
            <a:ext cx="0" cy="59436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40384" y="553212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A9C1DA"/>
          </a:solidFill>
          <a:ln w="9525">
            <a:solidFill>
              <a:srgbClr val="1F4E78"/>
            </a:solidFill>
            <a:prstDash val="solid"/>
          </a:ln>
          <a:effectLst>
            <a:outerShdw sx="100000" sy="100000" kx="0" ky="0" algn="bl" rotWithShape="0" blurRad="38100" dist="25400" dir="5400000">
              <a:srgbClr val="999999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286104" y="5577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 Patil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Asst. Manager, Quality Assurance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86204" y="4727448"/>
            <a:ext cx="0" cy="210312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6204" y="4937760"/>
            <a:ext cx="0" cy="59436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chart shows selected reporting lines for illustration. Manufacturing &amp; Operations, R&amp;D, Sales, and Finance each have additional teams not shown at this zoom level — see the full HRIS org module for complete depth.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2026-09-02T18:49:02Z</dcterms:created>
  <dcterms:modified xsi:type="dcterms:W3CDTF">2026-09-02T18:49:02Z</dcterms:modified>
</cp:coreProperties>
</file>